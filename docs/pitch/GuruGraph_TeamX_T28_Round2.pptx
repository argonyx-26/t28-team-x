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0:00-0:15 · Risheeth</a:t>
            </a:r>
          </a:p>
          <a:p>
            <a:r>
              <a:t>"We're Team X. This is GuruGraph: homework comes back already marked, and the teacher knows what to re-teach tomorrow."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0:15-1:00 · Risheeth, then Rishabh</a:t>
            </a:r>
          </a:p>
          <a:p>
            <a:r>
              <a:t>Risheeth: "In India's 2024 national survey, Class 6 scored only 29% on fraction questions, their weakest maths skill. About one in four teachers say they have too much correction work. And a red cross tells a child that it's wrong, not why."</a:t>
            </a:r>
          </a:p>
          <a:p>
            <a:r>
              <a:t>Rishabh: "At the mentor round we were asked: why would a teacher upload notebooks? They don't. A child snaps homework at home, or the teacher flips pages under a phone. GuruGraph finds the exact wrong step, names the mistake, and fixes it by tomorrow."</a:t>
            </a:r>
          </a:p>
          <a:p>
            <a:r>
              <a:t>Then switch to the live demo (1:00-3:00, Samartha): the child's homework in Kannada, Fix this now, gap closed; the dashboard; snap two pages; Plan tomorrow's lesson (the Analyst's veto). Come back to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3:00-3:30 · Samartha</a:t>
            </a:r>
          </a:p>
          <a:p>
            <a:r>
              <a:t>"The model only reads. Exact fraction arithmetic decides right or wrong, finds the first wrong line, and a mistake rule recomputes it: that's evidence, not a guess. Agents then act: the Coach plans, the Analyst checks every plan against each child's answers and can veto it, and the teacher has the last word. It's live: scan the QR and try class 7B."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3:30-4:05 · Rishabh</a:t>
            </a:r>
          </a:p>
          <a:p>
            <a:r>
              <a:t>"Everything here was built in these 24 hours and is live. Every number carries its n and method. On six whole notebook pages by three of us, with 18 problems and planted mistakes labelled before the run: 18 of 18 marked right or wrong, 13 of 13 wrong steps found, 13 of 13 mistakes named, 3.9 seconds a page. AI cost: Rs 3.64 per child per month, measured. What we don't claim: no classroom trial and no users yet. The 30 students in 7B are simulated, and we label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4:05-4:35 · Risheeth</a:t>
            </a:r>
          </a:p>
          <a:p>
            <a:r>
              <a:t>"Our customer is the middle-school maths teacher: budget private schools first, then government schools through the state. Karnataka alone has 19,105 private unaided schools, and only 8.2% of students there take coaching, so the fix has to happen in school. A per-student school licence; the AI costs Rs 3.64 per child per month, measured. It scales because the unit never changes: one child, one problem, one wrong step. A school view already rolls it up; a district is the same query."</a:t>
            </a:r>
          </a:p>
          <a:p>
            <a:r>
              <a:t>The Rs 5.1 is designed (Google Cloud list prices), not measured.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4:35-5:00 · all three</a:t>
            </a:r>
          </a:p>
          <a:p>
            <a:r>
              <a:t>Risheeth: "Teachers don't upload anything. Homework comes back already marked."</a:t>
            </a:r>
          </a:p>
          <a:p>
            <a:r>
              <a:t>Rishabh: "And when they do check notebooks, flipping pages under a phone is faster than a red pen."</a:t>
            </a:r>
          </a:p>
          <a:p>
            <a:r>
              <a:t>Samartha: "The AI reads. Arithmetic judges. The teacher decides. GuruGraph. Scan the QR and try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gurugraph-web-215071922486.asia-south1.run.app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github.com/Argonyx-26/T28-Team-X" TargetMode="External"/><Relationship Id="rId7" Type="http://schemas.openxmlformats.org/officeDocument/2006/relationships/notesSlide" Target="../notesSlides/notesSlide3.xml"/><Relationship Id="rId8" Type="http://schemas.openxmlformats.org/officeDocument/2006/relationships/hyperlink" Target="https://github.com/Argonyx-26/T28-Team-X/releases/tag/demo-vide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parakh.ncert.gov.in/sites/default/files/2025-07/REPORT_India_IND.pdf" TargetMode="External"/><Relationship Id="rId4" Type="http://schemas.openxmlformats.org/officeDocument/2006/relationships/hyperlink" Target="https://www.povertyactionlab.org/evaluation/impact-diagnostic-feedback-teachers-student-learning-india-0" TargetMode="External"/><Relationship Id="rId5" Type="http://schemas.openxmlformats.org/officeDocument/2006/relationships/hyperlink" Target="https://siegler.tc.columbia.edu/wp-content/uploads/2019/02/2013-Siegler-Pyke-fac.pdf" TargetMode="External"/><Relationship Id="rId6" Type="http://schemas.openxmlformats.org/officeDocument/2006/relationships/hyperlink" Target="https://dashboard.udiseplus.gov.in/report-new-v.6-demo2025/static/media/UDISE+2024_25_Booklet_existing.118ba29d4773e6372f72.pdf" TargetMode="External"/><Relationship Id="rId7" Type="http://schemas.openxmlformats.org/officeDocument/2006/relationships/hyperlink" Target="https://www.mospi.gov.in/uploads/publications_reports/publications_reports1757588642898_9ba30fe0-3677-478c-8d53-9a0d2ba107f0_CMS_E_2025L.pdf" TargetMode="External"/><Relationship Id="rId8" Type="http://schemas.openxmlformats.org/officeDocument/2006/relationships/hyperlink" Target="https://tiss.ac.in/uploads/files/SOTTTER_23_final_version.pdf" TargetMode="External"/><Relationship Id="rId9" Type="http://schemas.openxmlformats.org/officeDocument/2006/relationships/hyperlink" Target="https://hundred.org/en/innovations/mindspark-vernacular-personalised-adaptive-learning" TargetMode="External"/><Relationship Id="rId10" Type="http://schemas.openxmlformats.org/officeDocument/2006/relationships/hyperlink" Target="https://scoonews.com/news/khan-academy-launches-khanmigo-ai-tool-for-teachers-in-india/" TargetMode="External"/><Relationship Id="rId11" Type="http://schemas.openxmlformats.org/officeDocument/2006/relationships/hyperlink" Target="https://news.microsoft.com/source/asia/features/indias-schoolteachers-are-drafting-better-lesson-plans-faster-thanks-to-a-copilot/" TargetMode="External"/><Relationship Id="rId12" Type="http://schemas.openxmlformats.org/officeDocument/2006/relationships/hyperlink" Target="https://guides.gradescope.com/hc/en-us/articles/24838908062093-AI-assisted-grading-and-answer-groups" TargetMode="External"/><Relationship Id="rId13" Type="http://schemas.openxmlformats.org/officeDocument/2006/relationships/hyperlink" Target="https://en.wikipedia.org/wiki/Photomath" TargetMode="External"/><Relationship Id="rId14" Type="http://schemas.openxmlformats.org/officeDocument/2006/relationships/hyperlink" Target="https://cloud.google.com/vertex-ai/generative-ai/docs/models" TargetMode="External"/><Relationship Id="rId15" Type="http://schemas.openxmlformats.org/officeDocument/2006/relationships/hyperlink" Target="https://cloud.google.com/text-to-speech/docs/chirp3-hd" TargetMode="External"/><Relationship Id="rId16" Type="http://schemas.openxmlformats.org/officeDocument/2006/relationships/hyperlink" Target="https://gurugraph-api-215071922486.asia-south1.run.app/docs" TargetMode="External"/><Relationship Id="rId17" Type="http://schemas.openxmlformats.org/officeDocument/2006/relationships/hyperlink" Target="https://github.com/Argonyx-26/T28-Team-X/tree/main/data/evidence" TargetMode="External"/><Relationship Id="rId18" Type="http://schemas.openxmlformats.org/officeDocument/2006/relationships/hyperlink" Target="https://gurugraph-web-215071922486.asia-south1.run.app/judges" TargetMode="External"/><Relationship Id="rId1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907792"/>
            <a:ext cx="151790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Project Title:  </a:t>
            </a:r>
            <a:r>
              <a:rPr sz="25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GuruGraph</a:t>
            </a:r>
          </a:p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Team Name:  </a:t>
            </a:r>
            <a:r>
              <a:rPr sz="25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Team X</a:t>
            </a:r>
          </a:p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Team ID:  </a:t>
            </a:r>
            <a:r>
              <a:rPr sz="25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T28</a:t>
            </a:r>
          </a:p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Team Lead:  </a:t>
            </a:r>
            <a:r>
              <a:rPr sz="25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Samartha Puthraya K</a:t>
            </a:r>
          </a:p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One-line Tagline / Mission:  </a:t>
            </a:r>
            <a:r>
              <a:rPr sz="24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Marks middle-school fraction homework from a phone photo, circles the exact wrong step, and gives the teacher tomorrow's 5‑minute re‑teach.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80744" y="5989320"/>
          <a:ext cx="15508224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3383280"/>
                <a:gridCol w="4846320"/>
                <a:gridCol w="3346704"/>
              </a:tblGrid>
              <a:tr h="667512"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Name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USN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Email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Contact No.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Samartha Puthraya K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24SUUBEAML521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samarthputhraya@gmail.com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/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Rishabh Arun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24SUUBEAML493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arunrishabh33@gmail.com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/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Risheeth S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24SUUBEAML494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risheeth200623@gmail.com</a:t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</a:rPr>
                        <a:t/>
                      </a:r>
                    </a:p>
                  </a:txBody>
                  <a:tcPr anchor="ctr" marL="91440" marR="45720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CA8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2880360"/>
            <a:ext cx="5074920" cy="6400800"/>
          </a:xfrm>
          <a:prstGeom prst="roundRect">
            <a:avLst>
              <a:gd name="adj" fmla="val 6306"/>
            </a:avLst>
          </a:prstGeom>
          <a:solidFill>
            <a:srgbClr val="D1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88720" y="3154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30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56432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4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29%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2B35"/>
                </a:solidFill>
                <a:latin typeface="Montserrat SemiBold"/>
                <a:ea typeface="Montserrat SemiBold"/>
                <a:cs typeface="Montserrat SemiBold"/>
              </a:rPr>
              <a:t>average score on Class 6 fraction questions, their weakest maths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7044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NCERT PARAKH Rashtriya Sarvekshan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355080"/>
            <a:ext cx="4389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8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1 in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7406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2B35"/>
                </a:solidFill>
                <a:latin typeface="Montserrat SemiBold"/>
                <a:ea typeface="Montserrat SemiBold"/>
                <a:cs typeface="Montserrat SemiBold"/>
              </a:rPr>
              <a:t>teachers say they have too much correction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81381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TISS SoTTTER 2023 · 3,615 teachers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861364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1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A red cross says wrong. Not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34640"/>
            <a:ext cx="6492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 spc="300">
                <a:solidFill>
                  <a:srgbClr val="7A5514"/>
                </a:solidFill>
                <a:latin typeface="Montserrat"/>
                <a:ea typeface="Montserrat"/>
                <a:cs typeface="Montserrat"/>
              </a:rPr>
              <a:t>HOW GURUGRAPH WORKS</a:t>
            </a:r>
          </a:p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Teachers don't upload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14800"/>
            <a:ext cx="6492240" cy="1572768"/>
          </a:xfrm>
          <a:prstGeom prst="roundRect">
            <a:avLst>
              <a:gd name="adj" fmla="val 14534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519672" y="4544568"/>
            <a:ext cx="731520" cy="73152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261104"/>
            <a:ext cx="5074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Snap the page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A child snaps homework at home, or the teacher flips notebooks under a 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5852160"/>
            <a:ext cx="6492240" cy="1572768"/>
          </a:xfrm>
          <a:prstGeom prst="roundRect">
            <a:avLst>
              <a:gd name="adj" fmla="val 14534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19672" y="6281928"/>
            <a:ext cx="731520" cy="73152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998464"/>
            <a:ext cx="5074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Find the exact wrong step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AI reads each line. Exact arithmetic finds the first wrong one and names the mistake.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7589520"/>
            <a:ext cx="6492240" cy="1572768"/>
          </a:xfrm>
          <a:prstGeom prst="roundRect">
            <a:avLst>
              <a:gd name="adj" fmla="val 14534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9672" y="8019288"/>
            <a:ext cx="731520" cy="73152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7735824"/>
            <a:ext cx="5074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Fix it by tomorrow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A short lesson in the child's language, and a 5-minute re-teach plan for the teacher.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21640" y="2880360"/>
            <a:ext cx="4343400" cy="5650992"/>
          </a:xfrm>
          <a:prstGeom prst="roundRect">
            <a:avLst>
              <a:gd name="adj" fmla="val 8842"/>
            </a:avLst>
          </a:prstGeom>
          <a:solidFill>
            <a:srgbClr val="1D2B35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ho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3017520"/>
            <a:ext cx="4069080" cy="5373272"/>
          </a:xfrm>
          <a:prstGeom prst="roundRect">
            <a:avLst>
              <a:gd name="adj" fmla="val 6741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13121640" y="8641080"/>
            <a:ext cx="4343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55616B"/>
                </a:solidFill>
                <a:latin typeface="Montserrat"/>
                <a:ea typeface="Montserrat"/>
                <a:cs typeface="Montserrat"/>
              </a:rPr>
              <a:t>A real handwritten page, read live and marked in Kannada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44752" y="3227832"/>
            <a:ext cx="7168896" cy="5138928"/>
          </a:xfrm>
          <a:prstGeom prst="roundRect">
            <a:avLst>
              <a:gd name="adj" fmla="val 6227"/>
            </a:avLst>
          </a:prstGeom>
          <a:solidFill>
            <a:srgbClr val="D1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700784" y="3474720"/>
            <a:ext cx="6656832" cy="10058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901952" y="3657600"/>
            <a:ext cx="640080" cy="64008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3566160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Phone photo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Any page, any phone. Photos are never stored.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2103120" y="4498848"/>
            <a:ext cx="237744" cy="164592"/>
          </a:xfrm>
          <a:prstGeom prst="triangl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700784" y="4690872"/>
            <a:ext cx="6656832" cy="10058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901952" y="4873752"/>
            <a:ext cx="640080" cy="64008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4782312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Gemini 3 Flash reads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Every line of working, and where it sits.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2103120" y="5715000"/>
            <a:ext cx="237744" cy="164592"/>
          </a:xfrm>
          <a:prstGeom prst="triangl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700784" y="5907024"/>
            <a:ext cx="6656832" cy="10058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901952" y="6089904"/>
            <a:ext cx="640080" cy="64008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5998464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Exact arithmetic judges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Right or wrong, the first wrong line, the named mistake.</a:t>
            </a:r>
          </a:p>
        </p:txBody>
      </p:sp>
      <p:sp>
        <p:nvSpPr>
          <p:cNvPr id="15" name="Isosceles Triangle 14"/>
          <p:cNvSpPr/>
          <p:nvPr/>
        </p:nvSpPr>
        <p:spPr>
          <a:xfrm rot="10800000">
            <a:off x="2103120" y="6931152"/>
            <a:ext cx="237744" cy="164592"/>
          </a:xfrm>
          <a:prstGeom prst="triangl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700784" y="7123176"/>
            <a:ext cx="6656832" cy="10058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901952" y="7306056"/>
            <a:ext cx="640080" cy="640080"/>
          </a:xfrm>
          <a:prstGeom prst="ellipse">
            <a:avLst/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 i="0">
                <a:solidFill>
                  <a:srgbClr val="D1A85B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7214616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Agents act, teacher decides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E3B45"/>
                </a:solidFill>
                <a:latin typeface="Montserrat"/>
                <a:ea typeface="Montserrat"/>
                <a:cs typeface="Montserrat"/>
              </a:rPr>
              <a:t>Coach plans, Analyst vetoes, Curator teaches in 3 languages.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191256"/>
            <a:ext cx="7635240" cy="5138928"/>
          </a:xfrm>
          <a:prstGeom prst="roundRect">
            <a:avLst>
              <a:gd name="adj" fmla="val 6227"/>
            </a:avLst>
          </a:prstGeom>
          <a:solidFill>
            <a:srgbClr val="D1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418320" y="3456432"/>
            <a:ext cx="3474720" cy="3429000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qr-ap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593592"/>
            <a:ext cx="2377440" cy="2377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18320" y="6035040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Try it live</a:t>
            </a:r>
          </a:p>
          <a:p>
            <a:pPr algn="ctr"/>
            <a:r>
              <a:rPr sz="1400" b="0" i="0">
                <a:solidFill>
                  <a:srgbClr val="55616B"/>
                </a:solidFill>
                <a:latin typeface="Montserrat"/>
                <a:ea typeface="Montserrat"/>
                <a:cs typeface="Montserrat"/>
              </a:rPr>
              <a:t>class code 7B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30200" y="3456432"/>
            <a:ext cx="3474720" cy="3429000"/>
          </a:xfrm>
          <a:prstGeom prst="roundRect">
            <a:avLst>
              <a:gd name="adj" fmla="val 5866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qr-repo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8840" y="3593592"/>
            <a:ext cx="2377440" cy="2377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030200" y="6035040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Source code</a:t>
            </a:r>
          </a:p>
          <a:p>
            <a:pPr algn="ctr"/>
            <a:r>
              <a:rPr sz="1400" b="0" i="0">
                <a:solidFill>
                  <a:srgbClr val="55616B"/>
                </a:solidFill>
                <a:latin typeface="Montserrat"/>
                <a:ea typeface="Montserrat"/>
                <a:cs typeface="Montserrat"/>
              </a:rPr>
              <a:t>GitHub, 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7040880"/>
            <a:ext cx="7223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▶  Demo video:  </a:t>
            </a:r>
            <a:r>
              <a:rPr sz="15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8"/>
              </a:rPr>
              <a:t>github.com/Argonyx-26/T28-Team-X/releases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Live:  </a:t>
            </a:r>
            <a:r>
              <a:rPr sz="15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4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gurugraph-web-215071922486.asia-south1.run.app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Code:  </a:t>
            </a:r>
            <a:r>
              <a:rPr sz="15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6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github.com/Argonyx-26/T28-Team-X</a:t>
            </a:r>
          </a:p>
          <a:p>
            <a:pPr algn="l"/>
            <a:r>
              <a:rPr sz="15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275 backend tests and 8 browser tests gate every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861364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5616B"/>
                </a:solidFill>
                <a:latin typeface="Montserrat"/>
                <a:ea typeface="Montserrat"/>
                <a:cs typeface="Montserrat"/>
              </a:rPr>
              <a:t>Built with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8613648"/>
            <a:ext cx="11841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3380" y="8613648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7820" y="8613648"/>
            <a:ext cx="15270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Next.js 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09459" y="8613648"/>
            <a:ext cx="22128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Google Cloud 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86900" y="8613648"/>
            <a:ext cx="25557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Gemini on Vertex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207240" y="8613648"/>
            <a:ext cx="22128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Chirp 3 HD 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0976" y="2743200"/>
            <a:ext cx="4841610" cy="379476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880360"/>
            <a:ext cx="4567290" cy="3063240"/>
          </a:xfrm>
          <a:prstGeom prst="roundRect">
            <a:avLst>
              <a:gd name="adj" fmla="val 3582"/>
            </a:avLst>
          </a:prstGeom>
          <a:ln w="9525">
            <a:solidFill>
              <a:srgbClr val="C9D1D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088136" y="6016752"/>
            <a:ext cx="45672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Teacher: who is stuck 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21186" y="2743200"/>
            <a:ext cx="5733013" cy="379476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can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346" y="2880360"/>
            <a:ext cx="5458693" cy="3063240"/>
          </a:xfrm>
          <a:prstGeom prst="roundRect">
            <a:avLst>
              <a:gd name="adj" fmla="val 3582"/>
            </a:avLst>
          </a:prstGeom>
          <a:ln w="9525">
            <a:solidFill>
              <a:srgbClr val="C9D1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58346" y="6016752"/>
            <a:ext cx="545869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Every wrong line circled and named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82800" y="2743200"/>
            <a:ext cx="5359298" cy="3794760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eb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9960" y="2880360"/>
            <a:ext cx="5084978" cy="3063240"/>
          </a:xfrm>
          <a:prstGeom prst="roundRect">
            <a:avLst>
              <a:gd name="adj" fmla="val 3582"/>
            </a:avLst>
          </a:prstGeom>
          <a:ln w="9525">
            <a:solidFill>
              <a:srgbClr val="C9D1D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2119960" y="6016752"/>
            <a:ext cx="508497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Coach plans, Analyst vetoes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6784848"/>
            <a:ext cx="16386048" cy="2542032"/>
          </a:xfrm>
          <a:prstGeom prst="roundRect">
            <a:avLst>
              <a:gd name="adj" fmla="val 10791"/>
            </a:avLst>
          </a:prstGeom>
          <a:solidFill>
            <a:srgbClr val="1D2B35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25880" y="6949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3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MEASURED ON REAL HANDWRITING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7296912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18/18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8092440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problems marked right or wrong correctly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7296912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13/13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8092440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wrong steps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7296912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13/13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8092440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mistakes named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07624" y="7296912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3.9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07624" y="8092440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to read a whole page (median)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34872" y="7296912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₹3.64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34872" y="8092440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AI cost per student per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8778240"/>
            <a:ext cx="1572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9D1D8"/>
                </a:solidFill>
                <a:latin typeface="Montserrat"/>
                <a:ea typeface="Montserrat"/>
                <a:cs typeface="Montserrat"/>
              </a:rPr>
              <a:t>Round 2: 6 phone photos of whole notebook pages by 3 writers, 18 problems (5 right, 13 with planted mistakes), labels written before the run. Cost: measured calls × published prices.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2788920"/>
            <a:ext cx="5394960" cy="3017520"/>
          </a:xfrm>
          <a:prstGeom prst="roundRect">
            <a:avLst>
              <a:gd name="adj" fmla="val 9090"/>
            </a:avLst>
          </a:prstGeom>
          <a:solidFill>
            <a:srgbClr val="D1A85B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143000" y="3081527"/>
            <a:ext cx="1700784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Middle-school maths teachers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27024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Budget private schools first, then government schools through the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788920"/>
            <a:ext cx="5394960" cy="3017520"/>
          </a:xfrm>
          <a:prstGeom prst="roundRect">
            <a:avLst>
              <a:gd name="adj" fmla="val 9090"/>
            </a:avLst>
          </a:prstGeom>
          <a:solidFill>
            <a:srgbClr val="D1A85B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766559" y="3081527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3657600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Marked by 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427024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The wrong step named on every page, a lesson in the child's language, tomorrow's 5-minute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0" y="2788920"/>
            <a:ext cx="5394960" cy="3017520"/>
          </a:xfrm>
          <a:prstGeom prst="roundRect">
            <a:avLst>
              <a:gd name="adj" fmla="val 9090"/>
            </a:avLst>
          </a:prstGeom>
          <a:solidFill>
            <a:srgbClr val="D1A85B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2390119" y="3081527"/>
            <a:ext cx="1389888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0119" y="3657600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19,105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90119" y="427024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private unaided schools in Karnataka. Only 8.2% of students there take coaching: the fix has to happen in school.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90119" y="53492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UDISE+ 2024-25 · MoSPI NSS Education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6035040"/>
            <a:ext cx="8206740" cy="3154680"/>
          </a:xfrm>
          <a:prstGeom prst="roundRect">
            <a:avLst>
              <a:gd name="adj" fmla="val 8695"/>
            </a:avLst>
          </a:prstGeom>
          <a:solidFill>
            <a:srgbClr val="D1A85B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143000" y="6327648"/>
            <a:ext cx="2633472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6903720"/>
            <a:ext cx="45491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Per-student school licence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7516367"/>
            <a:ext cx="45491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Free for a teacher's first class; the school pays to roll it out. State and district contracts for government schools.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3580" y="6812279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sz="54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₹3.64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3580" y="7772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AI cost per student per month, measured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8300" y="6035040"/>
            <a:ext cx="8206740" cy="3154680"/>
          </a:xfrm>
          <a:prstGeom prst="roundRect">
            <a:avLst>
              <a:gd name="adj" fmla="val 8695"/>
            </a:avLst>
          </a:prstGeom>
          <a:solidFill>
            <a:srgbClr val="D1A85B"/>
          </a:solidFill>
          <a:ln>
            <a:noFill/>
          </a:ln>
          <a:effectLst>
            <a:outerShdw blurRad="2794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578340" y="6327648"/>
            <a:ext cx="2167128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8340" y="6903720"/>
            <a:ext cx="45491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One class → a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8340" y="7516367"/>
            <a:ext cx="45491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Same unit everywhere: one child, one problem, one wrong step. Stateless API on Cloud Run; a new topic is a new rule pack.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18920" y="6812279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sz="54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₹5.1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18920" y="7772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to serve a student per month at 100,000 students (designed, list prices)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2688336"/>
            <a:ext cx="8101583" cy="6583680"/>
          </a:xfrm>
          <a:prstGeom prst="roundRect">
            <a:avLst>
              <a:gd name="adj" fmla="val 4861"/>
            </a:avLst>
          </a:prstGeom>
          <a:solidFill>
            <a:srgbClr val="D1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2926080"/>
            <a:ext cx="7406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1D2B35"/>
                </a:solidFill>
                <a:latin typeface="Montserrat ExtraBold"/>
                <a:ea typeface="Montserrat ExtraBold"/>
                <a:cs typeface="Montserrat ExtraBold"/>
              </a:rPr>
              <a:t>Every wrong answer becomes a named mistake, and a fix by the next morning.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D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D1A85B"/>
                </a:solidFill>
                <a:latin typeface="Montserrat"/>
                <a:ea typeface="Montserrat"/>
                <a:cs typeface="Montserrat"/>
              </a:rPr>
              <a:t>LIVE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457200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 spc="20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212080"/>
            <a:ext cx="39319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✓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Homework check at home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✓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Scan and snap mode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✓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3 languages, with voice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✓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Coach vs Analyst plan debate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✓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School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5212080"/>
            <a:ext cx="3474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7A5514"/>
                </a:solidFill>
                <a:latin typeface="Montserrat"/>
                <a:ea typeface="Montserrat"/>
                <a:cs typeface="Montserrat"/>
              </a:rPr>
              <a:t>→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Classroom pilot: measure teacher time saved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7A5514"/>
                </a:solidFill>
                <a:latin typeface="Montserrat"/>
                <a:ea typeface="Montserrat"/>
                <a:cs typeface="Montserrat"/>
              </a:rPr>
              <a:t>→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All middle-school maths topics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7A5514"/>
                </a:solidFill>
                <a:latin typeface="Montserrat"/>
                <a:ea typeface="Montserrat"/>
                <a:cs typeface="Montserrat"/>
              </a:rPr>
              <a:t>→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WhatsApp homework</a:t>
            </a:r>
          </a:p>
          <a:p>
            <a:pPr algn="l" marL="347472" indent="-347472">
              <a:lnSpc>
                <a:spcPct val="100000"/>
              </a:lnSpc>
              <a:spcAft>
                <a:spcPts val="1200"/>
              </a:spcAft>
            </a:pPr>
            <a:r>
              <a:rPr sz="1900" b="1" i="0">
                <a:solidFill>
                  <a:srgbClr val="7A5514"/>
                </a:solidFill>
                <a:latin typeface="Montserrat"/>
                <a:ea typeface="Montserrat"/>
                <a:cs typeface="Montserrat"/>
              </a:rPr>
              <a:t>→	</a:t>
            </a:r>
            <a:r>
              <a:rPr sz="1900" b="0" i="0">
                <a:solidFill>
                  <a:srgbClr val="1D2B35"/>
                </a:solidFill>
                <a:latin typeface="Montserrat"/>
                <a:ea typeface="Montserrat"/>
                <a:cs typeface="Montserrat"/>
              </a:rPr>
              <a:t>District view for SCERT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845820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No users or trials yet. Class 7B's 30 practice students are simulated, and labelled that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688336"/>
            <a:ext cx="8101583" cy="6583680"/>
          </a:xfrm>
          <a:prstGeom prst="roundRect">
            <a:avLst>
              <a:gd name="adj" fmla="val 4861"/>
            </a:avLst>
          </a:prstGeom>
          <a:solidFill>
            <a:srgbClr val="D1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29800" y="2926080"/>
            <a:ext cx="7406640" cy="6217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 spc="20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RESEARCH PAPERS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3">
                  <a:extLst>
                    <a:ext uri="{A12FA001-AC4F-418D-AE19-62706E023703}">
                      <ns0:hlinkClr xmlns:ns0="http://schemas.microsoft.com/office/drawing/2018/hyperlinkcolor" val="tx"/>
                    </a:ext>
                  </a:extLst>
                </a:hlinkClick>
              </a:rPr>
              <a:t>NCERT PARAKH Rashtriya Sarvekshan 2024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4">
                  <a:extLst>
                    <a:ext uri="{A12FA001-AC4F-418D-AE19-62706E023703}">
                      <ns1:hlinkClr xmlns:ns1="http://schemas.microsoft.com/office/drawing/2018/hyperlinkcolor" val="tx"/>
                    </a:ext>
                  </a:extLst>
                </a:hlinkClick>
              </a:rPr>
              <a:t>Muralidharan &amp; Sundararaman 2010: diagnosis alone didn't raise learning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5">
                  <a:extLst>
                    <a:ext uri="{A12FA001-AC4F-418D-AE19-62706E023703}">
                      <ns2:hlinkClr xmlns:ns2="http://schemas.microsoft.com/office/drawing/2018/hyperlinkcolor" val="tx"/>
                    </a:ext>
                  </a:extLst>
                </a:hlinkClick>
              </a:rPr>
              <a:t>Siegler &amp; Pyke 2013: how children get fractions wrong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 spc="20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MARKET RESEARCH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6">
                  <a:extLst>
                    <a:ext uri="{A12FA001-AC4F-418D-AE19-62706E023703}">
                      <ns3:hlinkClr xmlns:ns3="http://schemas.microsoft.com/office/drawing/2018/hyperlinkcolor" val="tx"/>
                    </a:ext>
                  </a:extLst>
                </a:hlinkClick>
              </a:rPr>
              <a:t>UDISE+ 2024-25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7">
                  <a:extLst>
                    <a:ext uri="{A12FA001-AC4F-418D-AE19-62706E023703}">
                      <ns4:hlinkClr xmlns:ns4="http://schemas.microsoft.com/office/drawing/2018/hyperlinkcolor" val="tx"/>
                    </a:ext>
                  </a:extLst>
                </a:hlinkClick>
              </a:rPr>
              <a:t>MoSPI NSS Education 2025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8">
                  <a:extLst>
                    <a:ext uri="{A12FA001-AC4F-418D-AE19-62706E023703}">
                      <ns5:hlinkClr xmlns:ns5="http://schemas.microsoft.com/office/drawing/2018/hyperlinkcolor" val="tx"/>
                    </a:ext>
                  </a:extLst>
                </a:hlinkClick>
              </a:rPr>
              <a:t>TISS SoTTTER 2023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 spc="20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EXISTING SOLUTIONS STUDIED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9">
                  <a:extLst>
                    <a:ext uri="{A12FA001-AC4F-418D-AE19-62706E023703}">
                      <ns6:hlinkClr xmlns:ns6="http://schemas.microsoft.com/office/drawing/2018/hyperlinkcolor" val="tx"/>
                    </a:ext>
                  </a:extLst>
                </a:hlinkClick>
              </a:rPr>
              <a:t>Mindspark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0">
                  <a:extLst>
                    <a:ext uri="{A12FA001-AC4F-418D-AE19-62706E023703}">
                      <ns7:hlinkClr xmlns:ns7="http://schemas.microsoft.com/office/drawing/2018/hyperlinkcolor" val="tx"/>
                    </a:ext>
                  </a:extLst>
                </a:hlinkClick>
              </a:rPr>
              <a:t>Khanmigo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1">
                  <a:extLst>
                    <a:ext uri="{A12FA001-AC4F-418D-AE19-62706E023703}">
                      <ns8:hlinkClr xmlns:ns8="http://schemas.microsoft.com/office/drawing/2018/hyperlinkcolor" val="tx"/>
                    </a:ext>
                  </a:extLst>
                </a:hlinkClick>
              </a:rPr>
              <a:t>Shiksha Copilot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2">
                  <a:extLst>
                    <a:ext uri="{A12FA001-AC4F-418D-AE19-62706E023703}">
                      <ns9:hlinkClr xmlns:ns9="http://schemas.microsoft.com/office/drawing/2018/hyperlinkcolor" val="tx"/>
                    </a:ext>
                  </a:extLst>
                </a:hlinkClick>
              </a:rPr>
              <a:t>Gradescope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3">
                  <a:extLst>
                    <a:ext uri="{A12FA001-AC4F-418D-AE19-62706E023703}">
                      <ns10:hlinkClr xmlns:ns10="http://schemas.microsoft.com/office/drawing/2018/hyperlinkcolor" val="tx"/>
                    </a:ext>
                  </a:extLst>
                </a:hlinkClick>
              </a:rPr>
              <a:t>Photomath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 spc="20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APIS / DOCUMENTATION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4">
                  <a:extLst>
                    <a:ext uri="{A12FA001-AC4F-418D-AE19-62706E023703}">
                      <ns11:hlinkClr xmlns:ns11="http://schemas.microsoft.com/office/drawing/2018/hyperlinkcolor" val="tx"/>
                    </a:ext>
                  </a:extLst>
                </a:hlinkClick>
              </a:rPr>
              <a:t>Gemini on Vertex AI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5">
                  <a:extLst>
                    <a:ext uri="{A12FA001-AC4F-418D-AE19-62706E023703}">
                      <ns12:hlinkClr xmlns:ns12="http://schemas.microsoft.com/office/drawing/2018/hyperlinkcolor" val="tx"/>
                    </a:ext>
                  </a:extLst>
                </a:hlinkClick>
              </a:rPr>
              <a:t>Chirp 3 HD voices</a:t>
            </a:r>
            <a:r>
              <a:rPr sz="1700" b="0" i="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  ·  </a:t>
            </a: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6">
                  <a:extLst>
                    <a:ext uri="{A12FA001-AC4F-418D-AE19-62706E023703}">
                      <ns13:hlinkClr xmlns:ns13="http://schemas.microsoft.com/office/drawing/2018/hyperlinkcolor" val="tx"/>
                    </a:ext>
                  </a:extLst>
                </a:hlinkClick>
              </a:rPr>
              <a:t>GuruGraph API docs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 spc="200">
                <a:solidFill>
                  <a:srgbClr val="3B2A0C"/>
                </a:solidFill>
                <a:latin typeface="Montserrat"/>
                <a:ea typeface="Montserrat"/>
                <a:cs typeface="Montserrat"/>
              </a:rPr>
              <a:t>DATASETS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7">
                  <a:extLst>
                    <a:ext uri="{A12FA001-AC4F-418D-AE19-62706E023703}">
                      <ns14:hlinkClr xmlns:ns14="http://schemas.microsoft.com/office/drawing/2018/hyperlinkcolor" val="tx"/>
                    </a:ext>
                  </a:extLst>
                </a:hlinkClick>
              </a:rPr>
              <a:t>Our 9 handwritten pages, labelled before any model ran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 u="sng">
                <a:solidFill>
                  <a:srgbClr val="1D2B35"/>
                </a:solidFill>
                <a:latin typeface="Montserrat"/>
                <a:ea typeface="Montserrat"/>
                <a:cs typeface="Montserrat"/>
                <a:hlinkClick r:id="rId18">
                  <a:extLst>
                    <a:ext uri="{A12FA001-AC4F-418D-AE19-62706E023703}">
                      <ns15:hlinkClr xmlns:ns15="http://schemas.microsoft.com/office/drawing/2018/hyperlinkcolor" val="tx"/>
                    </a:ext>
                  </a:extLst>
                </a:hlinkClick>
              </a:rPr>
              <a:t>Every evaluation with its n and method: /judges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